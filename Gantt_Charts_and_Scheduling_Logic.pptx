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99" y="2130425"/>
            <a:ext cx="7983071" cy="1470025"/>
          </a:xfrm>
        </p:spPr>
        <p:txBody>
          <a:bodyPr/>
          <a:lstStyle/>
          <a:p>
            <a:r>
              <a:rPr dirty="0"/>
              <a:t>Gantt Charts and Scheduling Logic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Gantt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Definition: A Gantt chart is a bar chart showing project tasks over time.</a:t>
            </a:r>
          </a:p>
          <a:p>
            <a:pPr>
              <a:defRPr sz="2000"/>
            </a:pPr>
            <a:r>
              <a:rPr dirty="0"/>
              <a:t>Developed by Henry L. Gantt (early 1900s).</a:t>
            </a:r>
          </a:p>
          <a:p>
            <a:pPr>
              <a:defRPr sz="2000"/>
            </a:pPr>
            <a:r>
              <a:rPr dirty="0"/>
              <a:t>Common tools: MS Project, Excel, </a:t>
            </a:r>
            <a:r>
              <a:rPr dirty="0" err="1"/>
              <a:t>GanttProject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Used for visualizing project timelines and progress.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848A01-CF15-496B-B81E-4A92C884A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882" y="3673102"/>
            <a:ext cx="4410635" cy="26356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Gantt Chart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Time runs horizontally; activities are listed vertically.</a:t>
            </a:r>
          </a:p>
          <a:p>
            <a:pPr>
              <a:defRPr sz="2000"/>
            </a:pPr>
            <a:r>
              <a:rPr dirty="0"/>
              <a:t>Bars represent task duration, start, and finish dates.</a:t>
            </a:r>
          </a:p>
          <a:p>
            <a:pPr>
              <a:defRPr sz="2000"/>
            </a:pPr>
            <a:r>
              <a:rPr dirty="0"/>
              <a:t>Milestones shown as diamonds or markers.</a:t>
            </a:r>
          </a:p>
          <a:p>
            <a:pPr>
              <a:defRPr sz="2000"/>
            </a:pPr>
            <a:r>
              <a:rPr dirty="0"/>
              <a:t>Color or shading can show progress or task status.</a:t>
            </a:r>
          </a:p>
          <a:p>
            <a:pPr marL="0" indent="0">
              <a:buNone/>
              <a:defRPr sz="1600"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18C471-2DED-41C6-BE99-108059E2C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882" y="3673102"/>
            <a:ext cx="4410635" cy="26356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Finish-to-Start (FS): Task B begins when Task A finishes (most common).</a:t>
            </a:r>
          </a:p>
          <a:p>
            <a:pPr>
              <a:defRPr sz="2000"/>
            </a:pPr>
            <a:r>
              <a:rPr dirty="0"/>
              <a:t>Start-to-Start (SS): Tasks begin simultaneously.</a:t>
            </a:r>
          </a:p>
          <a:p>
            <a:pPr>
              <a:defRPr sz="2000"/>
            </a:pPr>
            <a:r>
              <a:rPr dirty="0"/>
              <a:t>Finish-to-Finish (FF): Tasks must finish at the same time.</a:t>
            </a:r>
          </a:p>
          <a:p>
            <a:pPr>
              <a:defRPr sz="2000"/>
            </a:pPr>
            <a:r>
              <a:rPr dirty="0"/>
              <a:t>Start-to-Finish (SF): Rare dependency type.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Lag and Lead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Lag: intentional delay between tasks.</a:t>
            </a:r>
          </a:p>
          <a:p>
            <a:pPr lvl="1">
              <a:defRPr sz="2000"/>
            </a:pPr>
            <a:r>
              <a:rPr dirty="0"/>
              <a:t>Example: wait 3 days after concrete pour before inspection.</a:t>
            </a:r>
            <a:endParaRPr lang="en-US" dirty="0"/>
          </a:p>
          <a:p>
            <a:pPr marL="457200" lvl="1" indent="0">
              <a:buNone/>
              <a:defRPr sz="2000"/>
            </a:pPr>
            <a:endParaRPr dirty="0"/>
          </a:p>
          <a:p>
            <a:pPr>
              <a:defRPr sz="2000"/>
            </a:pPr>
            <a:r>
              <a:rPr dirty="0"/>
              <a:t>Lead: overlap between tasks for efficiency.</a:t>
            </a:r>
          </a:p>
          <a:p>
            <a:pPr lvl="1">
              <a:defRPr sz="2000"/>
            </a:pPr>
            <a:r>
              <a:rPr dirty="0"/>
              <a:t>Example: start painting 2 days before drywall completion.</a:t>
            </a:r>
            <a:endParaRPr lang="en-US" dirty="0"/>
          </a:p>
          <a:p>
            <a:pPr marL="457200" lvl="1" indent="0">
              <a:buNone/>
              <a:defRPr sz="2000"/>
            </a:pPr>
            <a:endParaRPr dirty="0"/>
          </a:p>
          <a:p>
            <a:pPr>
              <a:defRPr sz="2000"/>
            </a:pPr>
            <a:r>
              <a:rPr dirty="0"/>
              <a:t>Lag/Lead refine schedule realism and control timing.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Linking AON and Gantt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AON diagrams define task logic and dependencies.</a:t>
            </a:r>
          </a:p>
          <a:p>
            <a:pPr>
              <a:defRPr sz="2000"/>
            </a:pPr>
            <a:r>
              <a:rPr dirty="0"/>
              <a:t>Gantt charts visualize the same relationships over time.</a:t>
            </a:r>
          </a:p>
          <a:p>
            <a:pPr>
              <a:defRPr sz="2000"/>
            </a:pPr>
            <a:r>
              <a:rPr dirty="0"/>
              <a:t>Both use dependency logic, including lag and lead adjustments.</a:t>
            </a:r>
          </a:p>
          <a:p>
            <a:pPr>
              <a:defRPr sz="2000"/>
            </a:pPr>
            <a:r>
              <a:rPr dirty="0"/>
              <a:t>Combining both improves planning accuracy and communication.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Gantt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Highly visual and easy to interpret.</a:t>
            </a:r>
          </a:p>
          <a:p>
            <a:pPr>
              <a:defRPr sz="2000"/>
            </a:pPr>
            <a:r>
              <a:rPr dirty="0"/>
              <a:t>Tracks planned versus actual progress.</a:t>
            </a:r>
          </a:p>
          <a:p>
            <a:pPr>
              <a:defRPr sz="2000"/>
            </a:pPr>
            <a:r>
              <a:rPr dirty="0"/>
              <a:t>Shows dependencies, milestones, and lags clearly.</a:t>
            </a:r>
          </a:p>
          <a:p>
            <a:pPr>
              <a:defRPr sz="2000"/>
            </a:pPr>
            <a:r>
              <a:rPr dirty="0"/>
              <a:t>Useful communication tool for non-technical stakeholders.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Gantt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Can become cluttered for large projects.</a:t>
            </a:r>
          </a:p>
          <a:p>
            <a:pPr>
              <a:defRPr sz="2000"/>
            </a:pPr>
            <a:r>
              <a:rPr dirty="0"/>
              <a:t>Difficult to show multiple dependencies clearly.</a:t>
            </a:r>
          </a:p>
          <a:p>
            <a:pPr>
              <a:defRPr sz="2000"/>
            </a:pPr>
            <a:r>
              <a:rPr dirty="0"/>
              <a:t>Does not easily show total float or slack.</a:t>
            </a:r>
          </a:p>
          <a:p>
            <a:pPr>
              <a:defRPr sz="2000"/>
            </a:pPr>
            <a:r>
              <a:rPr dirty="0"/>
              <a:t>Less analytical detail than Critical Path Method (CPM).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Gantt charts visualize project timing and task relationships.</a:t>
            </a:r>
          </a:p>
          <a:p>
            <a:pPr>
              <a:defRPr sz="2000"/>
            </a:pPr>
            <a:r>
              <a:rPr dirty="0"/>
              <a:t>Scheduling logic defines how tasks connect.</a:t>
            </a:r>
          </a:p>
          <a:p>
            <a:pPr>
              <a:defRPr sz="2000"/>
            </a:pPr>
            <a:r>
              <a:rPr dirty="0"/>
              <a:t>Lag and lead provide timing flexibility.</a:t>
            </a:r>
          </a:p>
          <a:p>
            <a:pPr>
              <a:defRPr sz="2000"/>
            </a:pPr>
            <a:r>
              <a:rPr dirty="0"/>
              <a:t>Combining AON and Gantt gives a complete schedule picture.</a:t>
            </a:r>
          </a:p>
          <a:p>
            <a:pPr marL="0" indent="0">
              <a:buNone/>
              <a:defRPr sz="1600"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331</Words>
  <Application>Microsoft Office PowerPoint</Application>
  <PresentationFormat>On-screen Show (4:3)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Gantt Charts and Scheduling Logic</vt:lpstr>
      <vt:lpstr>Introduction to Gantt Charts</vt:lpstr>
      <vt:lpstr>Gantt Chart Basics</vt:lpstr>
      <vt:lpstr>Scheduling Logic</vt:lpstr>
      <vt:lpstr>Lag and Lead Time</vt:lpstr>
      <vt:lpstr>Linking AON and Gantt</vt:lpstr>
      <vt:lpstr>Advantages of Gantt Charts</vt:lpstr>
      <vt:lpstr>Limitations of Gantt Charts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Gantt Charts and Scheduling Logic</dc:title>
  <dc:subject/>
  <dc:creator>Perry J Moler, PhD</dc:creator>
  <cp:keywords/>
  <dc:description>generated using python-pptx</dc:description>
  <cp:lastModifiedBy>Perry J Moler, PhD</cp:lastModifiedBy>
  <cp:revision>3</cp:revision>
  <dcterms:created xsi:type="dcterms:W3CDTF">2013-01-27T09:14:16Z</dcterms:created>
  <dcterms:modified xsi:type="dcterms:W3CDTF">2025-11-01T17:07:08Z</dcterms:modified>
  <cp:category/>
</cp:coreProperties>
</file>